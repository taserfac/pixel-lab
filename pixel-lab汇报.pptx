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686fe7b354978" /><Relationship Type="http://schemas.openxmlformats.org/officeDocument/2006/relationships/extended-properties" Target="/docProps/app.xml" Id="R3ea0511e9f304594" /><Relationship Type="http://schemas.openxmlformats.org/officeDocument/2006/relationships/officeDocument" Target="/ppt/presentation.xml" Id="R529ad67d67e14c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c8a60f1b414ce0"/>
  </p:sldMasterIdLst>
  <p:notesMasterIdLst>
    <p:notesMasterId xmlns:r="http://schemas.openxmlformats.org/officeDocument/2006/relationships" r:id="R732d9ea68c2445d3"/>
  </p:notesMasterIdLst>
  <p:sldIdLst>
    <p:sldId xmlns:r="http://schemas.openxmlformats.org/officeDocument/2006/relationships" id="256" r:id="R0e20386476084f05"/>
    <p:sldId xmlns:r="http://schemas.openxmlformats.org/officeDocument/2006/relationships" id="257" r:id="R7aecaf3357dc4b91"/>
    <p:sldId xmlns:r="http://schemas.openxmlformats.org/officeDocument/2006/relationships" id="258" r:id="Rc8d3e331e239424b"/>
    <p:sldId xmlns:r="http://schemas.openxmlformats.org/officeDocument/2006/relationships" id="259" r:id="R1ae05532c55a4642"/>
    <p:sldId xmlns:r="http://schemas.openxmlformats.org/officeDocument/2006/relationships" id="260" r:id="R5f1ba49c67f544f7"/>
    <p:sldId xmlns:r="http://schemas.openxmlformats.org/officeDocument/2006/relationships" id="261" r:id="Rff9ae22a48c64cab"/>
    <p:sldId xmlns:r="http://schemas.openxmlformats.org/officeDocument/2006/relationships" id="262" r:id="Rb5f820f82ee74e92"/>
    <p:sldId xmlns:r="http://schemas.openxmlformats.org/officeDocument/2006/relationships" id="263" r:id="R310745e909ab409a"/>
    <p:sldId xmlns:r="http://schemas.openxmlformats.org/officeDocument/2006/relationships" id="264" r:id="R50207b9520cd4244"/>
    <p:sldId xmlns:r="http://schemas.openxmlformats.org/officeDocument/2006/relationships" id="265" r:id="R37d0a965c5fb436b"/>
    <p:sldId xmlns:r="http://schemas.openxmlformats.org/officeDocument/2006/relationships" id="266" r:id="R5a3181db7da24430"/>
    <p:sldId xmlns:r="http://schemas.openxmlformats.org/officeDocument/2006/relationships" id="267" r:id="R98778eef649e4722"/>
    <p:sldId xmlns:r="http://schemas.openxmlformats.org/officeDocument/2006/relationships" id="268" r:id="Rd9ebf3f083a74c9c"/>
    <p:sldId xmlns:r="http://schemas.openxmlformats.org/officeDocument/2006/relationships" id="269" r:id="R9c203ae1ffa9423b"/>
    <p:sldId xmlns:r="http://schemas.openxmlformats.org/officeDocument/2006/relationships" id="270" r:id="Rda6615f9b04e4efc"/>
    <p:sldId xmlns:r="http://schemas.openxmlformats.org/officeDocument/2006/relationships" id="271" r:id="Rb7f83aa852c54deb"/>
    <p:sldId xmlns:r="http://schemas.openxmlformats.org/officeDocument/2006/relationships" id="272" r:id="R8a259d5cf0234e06"/>
    <p:sldId xmlns:r="http://schemas.openxmlformats.org/officeDocument/2006/relationships" id="273" r:id="R31ab1ebbfb7142e8"/>
    <p:sldId xmlns:r="http://schemas.openxmlformats.org/officeDocument/2006/relationships" id="274" r:id="R92600383d5fc49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ef17f938ed48b5" /><Relationship Type="http://schemas.openxmlformats.org/officeDocument/2006/relationships/slideMaster" Target="/ppt/slideMasters/slideMaster1.xml" Id="R26c8a60f1b414ce0" /><Relationship Type="http://schemas.openxmlformats.org/officeDocument/2006/relationships/notesMaster" Target="/ppt/notesMasters/notesMaster1.xml" Id="R732d9ea68c2445d3" /><Relationship Type="http://schemas.openxmlformats.org/officeDocument/2006/relationships/presProps" Target="/ppt/presProps.xml" Id="R48e3ca49af4642b5" /><Relationship Type="http://schemas.openxmlformats.org/officeDocument/2006/relationships/tableStyles" Target="/ppt/tableStyles.xml" Id="R12c57d8f4ff34843" /><Relationship Type="http://schemas.openxmlformats.org/officeDocument/2006/relationships/slide" Target="/ppt/slides/slide1.xml" Id="R0e20386476084f05" /><Relationship Type="http://schemas.openxmlformats.org/officeDocument/2006/relationships/slide" Target="/ppt/slides/slide2.xml" Id="R7aecaf3357dc4b91" /><Relationship Type="http://schemas.openxmlformats.org/officeDocument/2006/relationships/slide" Target="/ppt/slides/slide3.xml" Id="Rc8d3e331e239424b" /><Relationship Type="http://schemas.openxmlformats.org/officeDocument/2006/relationships/slide" Target="/ppt/slides/slide4.xml" Id="R1ae05532c55a4642" /><Relationship Type="http://schemas.openxmlformats.org/officeDocument/2006/relationships/slide" Target="/ppt/slides/slide5.xml" Id="R5f1ba49c67f544f7" /><Relationship Type="http://schemas.openxmlformats.org/officeDocument/2006/relationships/slide" Target="/ppt/slides/slide6.xml" Id="Rff9ae22a48c64cab" /><Relationship Type="http://schemas.openxmlformats.org/officeDocument/2006/relationships/slide" Target="/ppt/slides/slide7.xml" Id="Rb5f820f82ee74e92" /><Relationship Type="http://schemas.openxmlformats.org/officeDocument/2006/relationships/slide" Target="/ppt/slides/slide8.xml" Id="R310745e909ab409a" /><Relationship Type="http://schemas.openxmlformats.org/officeDocument/2006/relationships/slide" Target="/ppt/slides/slide9.xml" Id="R50207b9520cd4244" /><Relationship Type="http://schemas.openxmlformats.org/officeDocument/2006/relationships/slide" Target="/ppt/slides/slide10.xml" Id="R37d0a965c5fb436b" /><Relationship Type="http://schemas.openxmlformats.org/officeDocument/2006/relationships/slide" Target="/ppt/slides/slide11.xml" Id="R5a3181db7da24430" /><Relationship Type="http://schemas.openxmlformats.org/officeDocument/2006/relationships/slide" Target="/ppt/slides/slide12.xml" Id="R98778eef649e4722" /><Relationship Type="http://schemas.openxmlformats.org/officeDocument/2006/relationships/slide" Target="/ppt/slides/slide13.xml" Id="Rd9ebf3f083a74c9c" /><Relationship Type="http://schemas.openxmlformats.org/officeDocument/2006/relationships/slide" Target="/ppt/slides/slide14.xml" Id="R9c203ae1ffa9423b" /><Relationship Type="http://schemas.openxmlformats.org/officeDocument/2006/relationships/slide" Target="/ppt/slides/slide15.xml" Id="Rda6615f9b04e4efc" /><Relationship Type="http://schemas.openxmlformats.org/officeDocument/2006/relationships/slide" Target="/ppt/slides/slide16.xml" Id="Rb7f83aa852c54deb" /><Relationship Type="http://schemas.openxmlformats.org/officeDocument/2006/relationships/slide" Target="/ppt/slides/slide17.xml" Id="R8a259d5cf0234e06" /><Relationship Type="http://schemas.openxmlformats.org/officeDocument/2006/relationships/slide" Target="/ppt/slides/slide18.xml" Id="R31ab1ebbfb7142e8" /><Relationship Type="http://schemas.openxmlformats.org/officeDocument/2006/relationships/slide" Target="/ppt/slides/slide19.xml" Id="R92600383d5fc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1a3bb54af246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ixel Lab">
      <a:dk1>
        <a:srgbClr val="020617"/>
      </a:dk1>
      <a:lt1>
        <a:srgbClr val="FFFFFF"/>
      </a:lt1>
      <a:dk2>
        <a:srgbClr val="1E293B"/>
      </a:dk2>
      <a:lt2>
        <a:srgbClr val="CBD5E1"/>
      </a:lt2>
      <a:accent1>
        <a:srgbClr val="3B82F6"/>
      </a:accent1>
      <a:accent2>
        <a:srgbClr val="22D3EE"/>
      </a:accent2>
      <a:accent3>
        <a:srgbClr val="A78BFA"/>
      </a:accent3>
      <a:accent4>
        <a:srgbClr val="F59E0B"/>
      </a:accent4>
      <a:accent5>
        <a:srgbClr val="10B981"/>
      </a:accent5>
      <a:accent6>
        <a:srgbClr val="F43F5E"/>
      </a:accent6>
      <a:hlink>
        <a:srgbClr val="60A5FA"/>
      </a:hlink>
      <a:folHlink>
        <a:srgbClr val="A78BF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ixel Lab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05ddc5683746b7" /><Relationship Type="http://schemas.openxmlformats.org/officeDocument/2006/relationships/notesMaster" Target="/ppt/notesMasters/notesMaster1.xml" Id="R46b6aa40574840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4230b242a4cf4" /><Relationship Type="http://schemas.openxmlformats.org/officeDocument/2006/relationships/notesMaster" Target="/ppt/notesMasters/notesMaster1.xml" Id="R814a10261e744c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9183b101a4099" /><Relationship Type="http://schemas.openxmlformats.org/officeDocument/2006/relationships/notesMaster" Target="/ppt/notesMasters/notesMaster1.xml" Id="R2f655447456b47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ed4f4391644bdf" /><Relationship Type="http://schemas.openxmlformats.org/officeDocument/2006/relationships/notesMaster" Target="/ppt/notesMasters/notesMaster1.xml" Id="Ra288afac21fc40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dcc8c33a1d4e6f" /><Relationship Type="http://schemas.openxmlformats.org/officeDocument/2006/relationships/notesMaster" Target="/ppt/notesMasters/notesMaster1.xml" Id="R30e33c78392c42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5fe4c506954559" /><Relationship Type="http://schemas.openxmlformats.org/officeDocument/2006/relationships/notesMaster" Target="/ppt/notesMasters/notesMaster1.xml" Id="Rb7be0a1e700740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9515c24e14e5d" /><Relationship Type="http://schemas.openxmlformats.org/officeDocument/2006/relationships/notesMaster" Target="/ppt/notesMasters/notesMaster1.xml" Id="R618db11476d044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7f804dcb3d49f6" /><Relationship Type="http://schemas.openxmlformats.org/officeDocument/2006/relationships/notesMaster" Target="/ppt/notesMasters/notesMaster1.xml" Id="R1e0d97fa799a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99b178845a48b5" /><Relationship Type="http://schemas.openxmlformats.org/officeDocument/2006/relationships/notesMaster" Target="/ppt/notesMasters/notesMaster1.xml" Id="R8c2f9f8b084246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e7091270054961" /><Relationship Type="http://schemas.openxmlformats.org/officeDocument/2006/relationships/notesMaster" Target="/ppt/notesMasters/notesMaster1.xml" Id="Recbd863ded4d40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de826166ec43f5" /><Relationship Type="http://schemas.openxmlformats.org/officeDocument/2006/relationships/notesMaster" Target="/ppt/notesMasters/notesMaster1.xml" Id="Rf6e89d67a26244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87edc52fdd4f92" /><Relationship Type="http://schemas.openxmlformats.org/officeDocument/2006/relationships/notesMaster" Target="/ppt/notesMasters/notesMaster1.xml" Id="R510fbf6bcc4049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1d5df160b74d72" /><Relationship Type="http://schemas.openxmlformats.org/officeDocument/2006/relationships/notesMaster" Target="/ppt/notesMasters/notesMaster1.xml" Id="R4990cd376db042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8a2f29f3cb4b14" /><Relationship Type="http://schemas.openxmlformats.org/officeDocument/2006/relationships/notesMaster" Target="/ppt/notesMasters/notesMaster1.xml" Id="Ra088f8dcf86b4f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91a34cfef742bb" /><Relationship Type="http://schemas.openxmlformats.org/officeDocument/2006/relationships/notesMaster" Target="/ppt/notesMasters/notesMaster1.xml" Id="R3f07047c731d41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7f1caa27584baf" /><Relationship Type="http://schemas.openxmlformats.org/officeDocument/2006/relationships/notesMaster" Target="/ppt/notesMasters/notesMaster1.xml" Id="R0c46eac2a01f4f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769d4eb3c7482c" /><Relationship Type="http://schemas.openxmlformats.org/officeDocument/2006/relationships/notesMaster" Target="/ppt/notesMasters/notesMaster1.xml" Id="R24fe2e9115734e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06a26095fc4ab2" /><Relationship Type="http://schemas.openxmlformats.org/officeDocument/2006/relationships/notesMaster" Target="/ppt/notesMasters/notesMaster1.xml" Id="Rc9075c7568b44b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b44b8f51d54831" /><Relationship Type="http://schemas.openxmlformats.org/officeDocument/2006/relationships/notesMaster" Target="/ppt/notesMasters/notesMaster1.xml" Id="Rddee8a1e3e2c4d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大家好，今天汇报的项目是“像素实验室”——一个数字图像创作与管理平台，涵盖前端、后端、数据库与 AI 集成。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像素实验室是大学 Web 应用开发课程项目。项目包含 12 个前端功能模块、9 个后端 API 端点、11 张数据库表，共完成 52 次 Git 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系统采用三部分 Monorepo 架构。用户请求经过 Nginx 反向代理，到达 Tomcat 9，运行 ROOT.war 并连接 MySQL 数据库。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前端使用 Vue 3、Vite、Element Plus 与 Fabric.js；后端使用 Java 17、Servlet 4.0、Tomcat 9；AI 部分接入阿里云 DashScope。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产品功能围绕创作工具、AI 能力、社区互动、个人资产与后台治理展开，后续逐页展示关键页面。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图像处理工坊支持滤镜、调参、裁剪、像素化和文字水印。此处替换为对应页面截图。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创意画布是基于 Fabric.js 的全功能绘图编辑器，支持多对象组合编辑。此处替换为画布主界面截图。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绘图模块接入 DashScope，支持画布优化与图像生成，并提供无 API Key 时的本地像素画降级方案。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社区广场提供公开作品画廊、搜索、标签筛选和无限滚动。此处替换为社区首页截图。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作品详情页支持点赞、收藏、嵌套评论和举报；创作者主页展示个人信息、作品集与关注关系。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个人中心覆盖作品、收藏、点赞、个人资料和数据统计等完整用户旅程。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管理后台支持用户管理、作品管理、相册管理和举报处理。此处替换为后台总览或数据页截图。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前端状态管理使用 Pinia，API 层有 8 个模块，路由支持懒加载和守卫，工具库包含 Axios 封装与表单验证。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 API 包含 9 个 Servlet 端点，安全设计采用 6 层 Filter 链，并使用 jBCrypt、角色权限与封禁机制。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数据库包含 11 张核心表。用户与作品是核心，社交关系表支持点赞、收藏、关注和通知，内容管理表支持评论、举报和相册。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使用 DashScope 的通义千问 VL 与图像编辑模型；没有 API Key 时回退本地像素画生成。系统部署在阿里云 Ubuntu 22.04。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 3 月 13 日初始化，6 月 16 日到 21 日进行密集迭代，整个周期共 52 次提交。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架构亮点包括纯 Servlet、前后端单包部署、多环境配置、SPA 回退与 AI 降级方案。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像素实验室覆盖了 Vue 3、Java Servlet、Fabric.js Canvas、AI API 集成和全栈部署。感谢大家聆听。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aa5175b7b44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17a65fcd54a3c" /><Relationship Type="http://schemas.openxmlformats.org/officeDocument/2006/relationships/slideLayout" Target="/ppt/slideLayouts/slideLayout1.xml" Id="R200fc708a99c4e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fc708a99c4e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ixel Lab">
      <a:dk1>
        <a:srgbClr val="020617"/>
      </a:dk1>
      <a:lt1>
        <a:srgbClr val="FFFFFF"/>
      </a:lt1>
      <a:dk2>
        <a:srgbClr val="1E293B"/>
      </a:dk2>
      <a:lt2>
        <a:srgbClr val="CBD5E1"/>
      </a:lt2>
      <a:accent1>
        <a:srgbClr val="3B82F6"/>
      </a:accent1>
      <a:accent2>
        <a:srgbClr val="22D3EE"/>
      </a:accent2>
      <a:accent3>
        <a:srgbClr val="A78BFA"/>
      </a:accent3>
      <a:accent4>
        <a:srgbClr val="F59E0B"/>
      </a:accent4>
      <a:accent5>
        <a:srgbClr val="10B981"/>
      </a:accent5>
      <a:accent6>
        <a:srgbClr val="F43F5E"/>
      </a:accent6>
      <a:hlink>
        <a:srgbClr val="60A5FA"/>
      </a:hlink>
      <a:folHlink>
        <a:srgbClr val="A78BF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ixel Lab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a02b10d234059" /><Relationship Type="http://schemas.openxmlformats.org/officeDocument/2006/relationships/notesSlide" Target="/ppt/notesSlides/notesSlide1.xml" Id="Rc3d17032ee7349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d399505d64974" /><Relationship Type="http://schemas.openxmlformats.org/officeDocument/2006/relationships/notesSlide" Target="/ppt/notesSlides/notesSlide2.xml" Id="R81fa6b4c594c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6c37887f84a04" /><Relationship Type="http://schemas.openxmlformats.org/officeDocument/2006/relationships/notesSlide" Target="/ppt/notesSlides/notesSlide3.xml" Id="R17ef50ef536648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eea07fd1d4854" /><Relationship Type="http://schemas.openxmlformats.org/officeDocument/2006/relationships/notesSlide" Target="/ppt/notesSlides/notesSlide4.xml" Id="Rd219e4b51c8946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bb8f16ee14348" /><Relationship Type="http://schemas.openxmlformats.org/officeDocument/2006/relationships/notesSlide" Target="/ppt/notesSlides/notesSlide5.xml" Id="Rfb9c6f9f5dd0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dbe6ff2cf4e06" /><Relationship Type="http://schemas.openxmlformats.org/officeDocument/2006/relationships/notesSlide" Target="/ppt/notesSlides/notesSlide6.xml" Id="R565cc9350a95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d2ffab2bc4039" /><Relationship Type="http://schemas.openxmlformats.org/officeDocument/2006/relationships/notesSlide" Target="/ppt/notesSlides/notesSlide7.xml" Id="R6fab0c79c4e748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40b8f5d944704" /><Relationship Type="http://schemas.openxmlformats.org/officeDocument/2006/relationships/notesSlide" Target="/ppt/notesSlides/notesSlide8.xml" Id="R2ba92c4136e8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ad630267542a7" /><Relationship Type="http://schemas.openxmlformats.org/officeDocument/2006/relationships/notesSlide" Target="/ppt/notesSlides/notesSlide9.xml" Id="Rdc3033f78e93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5d78337ba4669" /><Relationship Type="http://schemas.openxmlformats.org/officeDocument/2006/relationships/notesSlide" Target="/ppt/notesSlides/notesSlide10.xml" Id="Rcaa8b45557cc49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d9c4655c242a2" /><Relationship Type="http://schemas.openxmlformats.org/officeDocument/2006/relationships/notesSlide" Target="/ppt/notesSlides/notesSlide11.xml" Id="Rc2a1a1aba2bb4e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3111302c94d29" /><Relationship Type="http://schemas.openxmlformats.org/officeDocument/2006/relationships/notesSlide" Target="/ppt/notesSlides/notesSlide12.xml" Id="Rd6784e77a58048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4336d5fb949db" /><Relationship Type="http://schemas.openxmlformats.org/officeDocument/2006/relationships/notesSlide" Target="/ppt/notesSlides/notesSlide13.xml" Id="R4e82cd2e40fb49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8f9d32ef44df4" /><Relationship Type="http://schemas.openxmlformats.org/officeDocument/2006/relationships/notesSlide" Target="/ppt/notesSlides/notesSlide14.xml" Id="Ra785268347254f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8b54a27ce45ec" /><Relationship Type="http://schemas.openxmlformats.org/officeDocument/2006/relationships/notesSlide" Target="/ppt/notesSlides/notesSlide15.xml" Id="R352f4904ce0e46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36571170945ea" /><Relationship Type="http://schemas.openxmlformats.org/officeDocument/2006/relationships/notesSlide" Target="/ppt/notesSlides/notesSlide16.xml" Id="R6607c51156234a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9f9754c364d22" /><Relationship Type="http://schemas.openxmlformats.org/officeDocument/2006/relationships/notesSlide" Target="/ppt/notesSlides/notesSlide17.xml" Id="Rf10bc094524849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6166be514316" /><Relationship Type="http://schemas.openxmlformats.org/officeDocument/2006/relationships/notesSlide" Target="/ppt/notesSlides/notesSlide18.xml" Id="R9dd4cea2cfe54b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38fe2355148e6" /><Relationship Type="http://schemas.openxmlformats.org/officeDocument/2006/relationships/notesSlide" Target="/ppt/notesSlides/notesSlide19.xml" Id="R97fcb505ea614c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op">
            <a:extLst xmlns:a="http://schemas.openxmlformats.org/drawingml/2006/main">
              <a:ext uri="{FF2B5EF4-FFF2-40B4-BE49-F238E27FC236}">
                <a16:creationId xmlns:a16="http://schemas.microsoft.com/office/drawing/2014/main" id="{167F4DCA-4C7F-4635-A9E6-2131363C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5536758-566C-4033-8D29-3B4A080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PIXEL LAB · PROJECT REPORT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F114F9-8409-4399-8B22-3446A1B4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85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像素实验室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F65683B-7F07-4F65-AE63-A498BB8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数字图像创作、管理与社区平台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FF452CAA-5938-40F3-BA4A-4D3489FA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0CCD32A1-A15F-4CBB-BC9B-8DFD21D0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Web 应用开发课程项目  ·  2026 年 6 月</a:t>
            </a:r>
          </a:p>
        </p:txBody>
      </p:sp>
      <p:sp>
        <p:nvSpPr>
          <p:cNvPr id="7" name="cover-visual">
            <a:extLst xmlns:a="http://schemas.openxmlformats.org/drawingml/2006/main">
              <a:ext uri="{FF2B5EF4-FFF2-40B4-BE49-F238E27FC236}">
                <a16:creationId xmlns:a16="http://schemas.microsoft.com/office/drawing/2014/main" id="{65FA0022-03DB-4FE3-A171-CCA3EC5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2857500" cy="3905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封面视觉预留</a:t>
            </a:r>
          </a:p>
          <a:p xmlns:a="http://schemas.openxmlformats.org/drawingml/2006/main">
            <a:pPr algn="ctr">
              <a:defRPr sz="16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可放项目 Logo / 首页截图</a:t>
            </a:r>
          </a:p>
        </p:txBody>
      </p:sp>
    </p:spTree>
    <p:extLst>
      <p:ext uri="{BB962C8B-B14F-4D97-AF65-F5344CB8AC3E}">
        <p14:creationId xmlns:p14="http://schemas.microsoft.com/office/powerpoint/2010/main" val="1306160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A0E7DD09-0007-49CA-B018-EBFA573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CE64D41C-BC65-474E-83EA-B18D87D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01 · OVERVIEW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CA5761-95C5-4112-A25B-FC1783B8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7ABDF8-243B-4CB3-8E81-4F565C2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E847CE-0CBC-4CE2-96C4-FF9D15F2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overview-thesis">
            <a:extLst xmlns:a="http://schemas.openxmlformats.org/drawingml/2006/main">
              <a:ext uri="{FF2B5EF4-FFF2-40B4-BE49-F238E27FC236}">
                <a16:creationId xmlns:a16="http://schemas.microsoft.com/office/drawing/2014/main" id="{3A55CC64-8B85-40CF-9372-96E490E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一个覆盖创作、发布、互动与管理的完整全栈 Web 应用</a:t>
            </a:r>
          </a:p>
        </p:txBody>
      </p:sp>
      <p:sp>
        <p:nvSpPr>
          <p:cNvPr id="7" name="overview-desc">
            <a:extLst xmlns:a="http://schemas.openxmlformats.org/drawingml/2006/main">
              <a:ext uri="{FF2B5EF4-FFF2-40B4-BE49-F238E27FC236}">
                <a16:creationId xmlns:a16="http://schemas.microsoft.com/office/drawing/2014/main" id="{CCE9C18A-1716-485C-B0C3-8C89C28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以数字图像为核心对象，将创作工具、社区互动、个人资产与后台治理串成完整用户旅程。</a:t>
            </a:r>
          </a:p>
        </p:txBody>
      </p:sp>
      <p:sp>
        <p:nvSpPr>
          <p:cNvPr id="8" name="metric-前端功能模块">
            <a:extLst xmlns:a="http://schemas.openxmlformats.org/drawingml/2006/main">
              <a:ext uri="{FF2B5EF4-FFF2-40B4-BE49-F238E27FC236}">
                <a16:creationId xmlns:a16="http://schemas.microsoft.com/office/drawing/2014/main" id="{2C9F036A-9167-4F00-9F6F-2F956133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metric-label-前端功能模块">
            <a:extLst xmlns:a="http://schemas.openxmlformats.org/drawingml/2006/main">
              <a:ext uri="{FF2B5EF4-FFF2-40B4-BE49-F238E27FC236}">
                <a16:creationId xmlns:a16="http://schemas.microsoft.com/office/drawing/2014/main" id="{BA5A8CC3-EB10-4BDB-97D8-86C5E62D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前端功能模块</a:t>
            </a:r>
          </a:p>
        </p:txBody>
      </p:sp>
      <p:sp>
        <p:nvSpPr>
          <p:cNvPr id="10" name="metric-后端 API 端点">
            <a:extLst xmlns:a="http://schemas.openxmlformats.org/drawingml/2006/main">
              <a:ext uri="{FF2B5EF4-FFF2-40B4-BE49-F238E27FC236}">
                <a16:creationId xmlns:a16="http://schemas.microsoft.com/office/drawing/2014/main" id="{D4CFB208-7EC1-4048-8C73-0C40C291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metric-label-后端 API 端点">
            <a:extLst xmlns:a="http://schemas.openxmlformats.org/drawingml/2006/main">
              <a:ext uri="{FF2B5EF4-FFF2-40B4-BE49-F238E27FC236}">
                <a16:creationId xmlns:a16="http://schemas.microsoft.com/office/drawing/2014/main" id="{5CB43428-56CD-47E9-9ECF-0512EF9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后端 API 端点</a:t>
            </a:r>
          </a:p>
        </p:txBody>
      </p:sp>
      <p:sp>
        <p:nvSpPr>
          <p:cNvPr id="12" name="metric-核心数据表">
            <a:extLst xmlns:a="http://schemas.openxmlformats.org/drawingml/2006/main">
              <a:ext uri="{FF2B5EF4-FFF2-40B4-BE49-F238E27FC236}">
                <a16:creationId xmlns:a16="http://schemas.microsoft.com/office/drawing/2014/main" id="{6DBCB443-9455-42A6-8283-6E788047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3" name="metric-label-核心数据表">
            <a:extLst xmlns:a="http://schemas.openxmlformats.org/drawingml/2006/main">
              <a:ext uri="{FF2B5EF4-FFF2-40B4-BE49-F238E27FC236}">
                <a16:creationId xmlns:a16="http://schemas.microsoft.com/office/drawing/2014/main" id="{61F37C54-36BE-4B45-BFAD-B43CB44E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核心数据表</a:t>
            </a:r>
          </a:p>
        </p:txBody>
      </p:sp>
      <p:sp>
        <p:nvSpPr>
          <p:cNvPr id="14" name="metric-Git 提交">
            <a:extLst xmlns:a="http://schemas.openxmlformats.org/drawingml/2006/main">
              <a:ext uri="{FF2B5EF4-FFF2-40B4-BE49-F238E27FC236}">
                <a16:creationId xmlns:a16="http://schemas.microsoft.com/office/drawing/2014/main" id="{7741B7A6-9353-40B7-81FF-2E19BC92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15" name="metric-label-Git 提交">
            <a:extLst xmlns:a="http://schemas.openxmlformats.org/drawingml/2006/main">
              <a:ext uri="{FF2B5EF4-FFF2-40B4-BE49-F238E27FC236}">
                <a16:creationId xmlns:a16="http://schemas.microsoft.com/office/drawing/2014/main" id="{421548F1-87B4-4622-9BC5-37EB6F91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Git 提交</a:t>
            </a:r>
          </a:p>
        </p:txBody>
      </p:sp>
      <p:sp>
        <p:nvSpPr>
          <p:cNvPr id="16" name="overview-period">
            <a:extLst xmlns:a="http://schemas.openxmlformats.org/drawingml/2006/main">
              <a:ext uri="{FF2B5EF4-FFF2-40B4-BE49-F238E27FC236}">
                <a16:creationId xmlns:a16="http://schemas.microsoft.com/office/drawing/2014/main" id="{88EF60FD-891D-4337-9012-E30E767B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开发周期  ·  2026.03 — 2026.06</a:t>
            </a:r>
          </a:p>
        </p:txBody>
      </p:sp>
    </p:spTree>
    <p:extLst>
      <p:ext uri="{BB962C8B-B14F-4D97-AF65-F5344CB8AC3E}">
        <p14:creationId xmlns:p14="http://schemas.microsoft.com/office/powerpoint/2010/main" val="768033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C9DE51C4-3D39-4C87-AB3C-F881740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4875439A-8A8E-4594-A06F-AC13C5A0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02 · 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286FA7-14BA-4BCD-824C-1840F04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7C2336-9148-4184-98B8-F7477BEF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31F9CE-16D0-4265-8A28-B17A91E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architecture-summary">
            <a:extLst xmlns:a="http://schemas.openxmlformats.org/drawingml/2006/main">
              <a:ext uri="{FF2B5EF4-FFF2-40B4-BE49-F238E27FC236}">
                <a16:creationId xmlns:a16="http://schemas.microsoft.com/office/drawing/2014/main" id="{7C15F876-5B09-4CFE-9782-F08749B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Monorepo 组织 · 前后端一体化打包 · 单机云部署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34085BD6-D07B-433C-AC65-A0504B0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1AFFA028-C1CE-434C-8770-F8CC57A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9" name="flow-3">
            <a:extLst xmlns:a="http://schemas.openxmlformats.org/drawingml/2006/main">
              <a:ext uri="{FF2B5EF4-FFF2-40B4-BE49-F238E27FC236}">
                <a16:creationId xmlns:a16="http://schemas.microsoft.com/office/drawing/2014/main" id="{C38A85FC-2622-4664-85A4-957E572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0" name="flow-4">
            <a:extLst xmlns:a="http://schemas.openxmlformats.org/drawingml/2006/main">
              <a:ext uri="{FF2B5EF4-FFF2-40B4-BE49-F238E27FC236}">
                <a16:creationId xmlns:a16="http://schemas.microsoft.com/office/drawing/2014/main" id="{E965D032-0425-48F2-87CE-482D62C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1" name="node-1">
            <a:extLst xmlns:a="http://schemas.openxmlformats.org/drawingml/2006/main">
              <a:ext uri="{FF2B5EF4-FFF2-40B4-BE49-F238E27FC236}">
                <a16:creationId xmlns:a16="http://schemas.microsoft.com/office/drawing/2014/main" id="{62F844BC-4089-4A2E-BC77-9EB9C205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用户端</a:t>
            </a:r>
          </a:p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Vue 3 SPA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70E5917B-A79F-4A27-9D91-FC11B442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Nginx</a:t>
            </a:r>
          </a:p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反向代理</a:t>
            </a:r>
          </a:p>
        </p:txBody>
      </p:sp>
      <p:sp>
        <p:nvSpPr>
          <p:cNvPr id="13" name="node-3">
            <a:extLst xmlns:a="http://schemas.openxmlformats.org/drawingml/2006/main">
              <a:ext uri="{FF2B5EF4-FFF2-40B4-BE49-F238E27FC236}">
                <a16:creationId xmlns:a16="http://schemas.microsoft.com/office/drawing/2014/main" id="{46DC1070-90ED-4603-BD30-2706A536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Tomcat 9</a:t>
            </a:r>
          </a:p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ROOT.war</a:t>
            </a:r>
          </a:p>
        </p:txBody>
      </p:sp>
      <p:sp>
        <p:nvSpPr>
          <p:cNvPr id="14" name="node-4">
            <a:extLst xmlns:a="http://schemas.openxmlformats.org/drawingml/2006/main">
              <a:ext uri="{FF2B5EF4-FFF2-40B4-BE49-F238E27FC236}">
                <a16:creationId xmlns:a16="http://schemas.microsoft.com/office/drawing/2014/main" id="{ECE3EA29-DB35-4DEC-8B8C-2C317F1D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Java Servlet</a:t>
            </a:r>
          </a:p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业务 API</a:t>
            </a:r>
          </a:p>
        </p:txBody>
      </p:sp>
      <p:sp>
        <p:nvSpPr>
          <p:cNvPr id="15" name="node-5">
            <a:extLst xmlns:a="http://schemas.openxmlformats.org/drawingml/2006/main">
              <a:ext uri="{FF2B5EF4-FFF2-40B4-BE49-F238E27FC236}">
                <a16:creationId xmlns:a16="http://schemas.microsoft.com/office/drawing/2014/main" id="{ACEB90CB-7B11-4E0C-A7E3-7AA738D3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数据存储</a:t>
            </a:r>
          </a:p>
        </p:txBody>
      </p:sp>
      <p:sp>
        <p:nvSpPr>
          <p:cNvPr id="16" name="arch-note">
            <a:extLst xmlns:a="http://schemas.openxmlformats.org/drawingml/2006/main">
              <a:ext uri="{FF2B5EF4-FFF2-40B4-BE49-F238E27FC236}">
                <a16:creationId xmlns:a16="http://schemas.microsoft.com/office/drawing/2014/main" id="{D96E1D89-8C31-4CED-A60C-371647ED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部署路径：请求由 Nginx 接入，转发至 Tomcat；前端静态资源与 Servlet 后端共同打包进 WAR，数据持久化至 MySQL。</a:t>
            </a:r>
          </a:p>
        </p:txBody>
      </p:sp>
    </p:spTree>
    <p:extLst>
      <p:ext uri="{BB962C8B-B14F-4D97-AF65-F5344CB8AC3E}">
        <p14:creationId xmlns:p14="http://schemas.microsoft.com/office/powerpoint/2010/main" val="2083093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ECA7F17-9A21-4CDE-85D8-EC06B92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9503B64F-EEE0-40BB-AD12-B7747FC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02 · STACK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69AE0D-4372-4428-B00B-E5B74DE9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298DA3-F059-4E7D-AAE4-CF4D49E2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FAAC8B-AB3A-4615-A3B3-F1EF792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tack-title-0">
            <a:extLst xmlns:a="http://schemas.openxmlformats.org/drawingml/2006/main">
              <a:ext uri="{FF2B5EF4-FFF2-40B4-BE49-F238E27FC236}">
                <a16:creationId xmlns:a16="http://schemas.microsoft.com/office/drawing/2014/main" id="{FDA13544-B785-47AA-BF3F-7936C21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7" name="stack-body-0">
            <a:extLst xmlns:a="http://schemas.openxmlformats.org/drawingml/2006/main">
              <a:ext uri="{FF2B5EF4-FFF2-40B4-BE49-F238E27FC236}">
                <a16:creationId xmlns:a16="http://schemas.microsoft.com/office/drawing/2014/main" id="{F4786BBF-3E6C-426F-870A-2B7E9100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Vue 3 + Composition API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Vite 5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Element Plus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Fabric.js v7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Pinia + Vue Router 4</a:t>
            </a:r>
          </a:p>
        </p:txBody>
      </p:sp>
      <p:sp>
        <p:nvSpPr>
          <p:cNvPr id="8" name="stack-title-1">
            <a:extLst xmlns:a="http://schemas.openxmlformats.org/drawingml/2006/main">
              <a:ext uri="{FF2B5EF4-FFF2-40B4-BE49-F238E27FC236}">
                <a16:creationId xmlns:a16="http://schemas.microsoft.com/office/drawing/2014/main" id="{B5739692-7E7A-46E3-8B5B-A6458E10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9" name="stack-body-1">
            <a:extLst xmlns:a="http://schemas.openxmlformats.org/drawingml/2006/main">
              <a:ext uri="{FF2B5EF4-FFF2-40B4-BE49-F238E27FC236}">
                <a16:creationId xmlns:a16="http://schemas.microsoft.com/office/drawing/2014/main" id="{DE91CF91-1F10-49D4-ACEA-F6149BCE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28875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Java 17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Servlet 4.0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Tomcat 9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HikariCP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jBCrypt</a:t>
            </a:r>
          </a:p>
        </p:txBody>
      </p:sp>
      <p:sp>
        <p:nvSpPr>
          <p:cNvPr id="10" name="stack-title-2">
            <a:extLst xmlns:a="http://schemas.openxmlformats.org/drawingml/2006/main">
              <a:ext uri="{FF2B5EF4-FFF2-40B4-BE49-F238E27FC236}">
                <a16:creationId xmlns:a16="http://schemas.microsoft.com/office/drawing/2014/main" id="{C5B8BF97-144D-4545-943A-68C7E0F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AI 与基础设施</a:t>
            </a:r>
          </a:p>
        </p:txBody>
      </p:sp>
      <p:sp>
        <p:nvSpPr>
          <p:cNvPr id="11" name="stack-body-2">
            <a:extLst xmlns:a="http://schemas.openxmlformats.org/drawingml/2006/main">
              <a:ext uri="{FF2B5EF4-FFF2-40B4-BE49-F238E27FC236}">
                <a16:creationId xmlns:a16="http://schemas.microsoft.com/office/drawing/2014/main" id="{E91CB75D-7295-423F-9CBB-CCA66F4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阿里云 DashScope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通义千问 VL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通义千问图像编辑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Nginx + Ubuntu 22.04</a:t>
            </a:r>
          </a:p>
        </p:txBody>
      </p:sp>
      <p:sp>
        <p:nvSpPr>
          <p:cNvPr id="12" name="stack-foot">
            <a:extLst xmlns:a="http://schemas.openxmlformats.org/drawingml/2006/main">
              <a:ext uri="{FF2B5EF4-FFF2-40B4-BE49-F238E27FC236}">
                <a16:creationId xmlns:a16="http://schemas.microsoft.com/office/drawing/2014/main" id="{EF5B440D-0A78-4C5C-9FC3-EF4DC88D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技术选择强调：底层能力、可编辑画布、AI 增强与轻量部署</a:t>
            </a:r>
          </a:p>
        </p:txBody>
      </p:sp>
    </p:spTree>
    <p:extLst>
      <p:ext uri="{BB962C8B-B14F-4D97-AF65-F5344CB8AC3E}">
        <p14:creationId xmlns:p14="http://schemas.microsoft.com/office/powerpoint/2010/main" val="1229728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FCA47BA-82C7-4D64-AE1B-862D2A2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E8AE89CD-474C-4201-8B29-1CFBF317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PRODUCT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111230-9716-4E85-9609-596B43C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功能全景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9FF9EA-F157-43A1-B676-7E660078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4F65A8-BFE4-4A99-B4DB-047E5DB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map-thesis">
            <a:extLst xmlns:a="http://schemas.openxmlformats.org/drawingml/2006/main">
              <a:ext uri="{FF2B5EF4-FFF2-40B4-BE49-F238E27FC236}">
                <a16:creationId xmlns:a16="http://schemas.microsoft.com/office/drawing/2014/main" id="{ECB29EBD-9F0A-48D3-92A3-2670FCD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从“创作”出发，形成作品传播与用户沉淀的闭环</a:t>
            </a:r>
          </a:p>
        </p:txBody>
      </p:sp>
      <p:sp>
        <p:nvSpPr>
          <p:cNvPr id="7" name="map-num-0">
            <a:extLst xmlns:a="http://schemas.openxmlformats.org/drawingml/2006/main">
              <a:ext uri="{FF2B5EF4-FFF2-40B4-BE49-F238E27FC236}">
                <a16:creationId xmlns:a16="http://schemas.microsoft.com/office/drawing/2014/main" id="{7FBADCC9-F4B8-4FFD-9839-04EEC05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map-title-0">
            <a:extLst xmlns:a="http://schemas.openxmlformats.org/drawingml/2006/main">
              <a:ext uri="{FF2B5EF4-FFF2-40B4-BE49-F238E27FC236}">
                <a16:creationId xmlns:a16="http://schemas.microsoft.com/office/drawing/2014/main" id="{D57D1F4F-B5D5-40C5-B230-F596F9AA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图像处理工坊</a:t>
            </a:r>
          </a:p>
        </p:txBody>
      </p:sp>
      <p:sp>
        <p:nvSpPr>
          <p:cNvPr id="9" name="map-desc-0">
            <a:extLst xmlns:a="http://schemas.openxmlformats.org/drawingml/2006/main">
              <a:ext uri="{FF2B5EF4-FFF2-40B4-BE49-F238E27FC236}">
                <a16:creationId xmlns:a16="http://schemas.microsoft.com/office/drawing/2014/main" id="{A2ED32EB-1D6D-4347-9AF1-B000E1C6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滤镜、裁剪、像素化、水印</a:t>
            </a:r>
          </a:p>
        </p:txBody>
      </p:sp>
      <p:sp>
        <p:nvSpPr>
          <p:cNvPr id="10" name="map-num-1">
            <a:extLst xmlns:a="http://schemas.openxmlformats.org/drawingml/2006/main">
              <a:ext uri="{FF2B5EF4-FFF2-40B4-BE49-F238E27FC236}">
                <a16:creationId xmlns:a16="http://schemas.microsoft.com/office/drawing/2014/main" id="{ACB36063-D461-472C-BB81-9729AEA1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map-title-1">
            <a:extLst xmlns:a="http://schemas.openxmlformats.org/drawingml/2006/main">
              <a:ext uri="{FF2B5EF4-FFF2-40B4-BE49-F238E27FC236}">
                <a16:creationId xmlns:a16="http://schemas.microsoft.com/office/drawing/2014/main" id="{123E6108-E350-4443-AAD5-A45B9296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67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创意画布</a:t>
            </a:r>
          </a:p>
        </p:txBody>
      </p:sp>
      <p:sp>
        <p:nvSpPr>
          <p:cNvPr id="12" name="map-desc-1">
            <a:extLst xmlns:a="http://schemas.openxmlformats.org/drawingml/2006/main">
              <a:ext uri="{FF2B5EF4-FFF2-40B4-BE49-F238E27FC236}">
                <a16:creationId xmlns:a16="http://schemas.microsoft.com/office/drawing/2014/main" id="{D6DD3D65-B745-4C0A-BE78-EF1434FC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67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Fabric.js 多对象绘制与编辑</a:t>
            </a:r>
          </a:p>
        </p:txBody>
      </p:sp>
      <p:sp>
        <p:nvSpPr>
          <p:cNvPr id="13" name="map-num-2">
            <a:extLst xmlns:a="http://schemas.openxmlformats.org/drawingml/2006/main">
              <a:ext uri="{FF2B5EF4-FFF2-40B4-BE49-F238E27FC236}">
                <a16:creationId xmlns:a16="http://schemas.microsoft.com/office/drawing/2014/main" id="{55260A5C-CB59-446B-88D1-58A3C1E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map-title-2">
            <a:extLst xmlns:a="http://schemas.openxmlformats.org/drawingml/2006/main">
              <a:ext uri="{FF2B5EF4-FFF2-40B4-BE49-F238E27FC236}">
                <a16:creationId xmlns:a16="http://schemas.microsoft.com/office/drawing/2014/main" id="{894DDECF-60CD-44B4-919F-92E99D07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AI 绘图</a:t>
            </a:r>
          </a:p>
        </p:txBody>
      </p:sp>
      <p:sp>
        <p:nvSpPr>
          <p:cNvPr id="15" name="map-desc-2">
            <a:extLst xmlns:a="http://schemas.openxmlformats.org/drawingml/2006/main">
              <a:ext uri="{FF2B5EF4-FFF2-40B4-BE49-F238E27FC236}">
                <a16:creationId xmlns:a16="http://schemas.microsoft.com/office/drawing/2014/main" id="{3AE33DAB-AC72-4632-B063-52736A69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画布优化与图像生成</a:t>
            </a:r>
          </a:p>
        </p:txBody>
      </p:sp>
      <p:sp>
        <p:nvSpPr>
          <p:cNvPr id="16" name="map-num-3">
            <a:extLst xmlns:a="http://schemas.openxmlformats.org/drawingml/2006/main">
              <a:ext uri="{FF2B5EF4-FFF2-40B4-BE49-F238E27FC236}">
                <a16:creationId xmlns:a16="http://schemas.microsoft.com/office/drawing/2014/main" id="{F213E43A-F4CE-412F-9383-7973212A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map-title-3">
            <a:extLst xmlns:a="http://schemas.openxmlformats.org/drawingml/2006/main">
              <a:ext uri="{FF2B5EF4-FFF2-40B4-BE49-F238E27FC236}">
                <a16:creationId xmlns:a16="http://schemas.microsoft.com/office/drawing/2014/main" id="{8F39413D-ED0B-4C94-A1E3-6DA13132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社区互动</a:t>
            </a:r>
          </a:p>
        </p:txBody>
      </p:sp>
      <p:sp>
        <p:nvSpPr>
          <p:cNvPr id="18" name="map-desc-3">
            <a:extLst xmlns:a="http://schemas.openxmlformats.org/drawingml/2006/main">
              <a:ext uri="{FF2B5EF4-FFF2-40B4-BE49-F238E27FC236}">
                <a16:creationId xmlns:a16="http://schemas.microsoft.com/office/drawing/2014/main" id="{C45FC3A4-FA6F-4D15-867B-D85983AC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发现、点赞、收藏、评论与关注</a:t>
            </a:r>
          </a:p>
        </p:txBody>
      </p:sp>
      <p:sp>
        <p:nvSpPr>
          <p:cNvPr id="19" name="map-num-4">
            <a:extLst xmlns:a="http://schemas.openxmlformats.org/drawingml/2006/main">
              <a:ext uri="{FF2B5EF4-FFF2-40B4-BE49-F238E27FC236}">
                <a16:creationId xmlns:a16="http://schemas.microsoft.com/office/drawing/2014/main" id="{FBB63784-B597-4954-8839-3247ABFF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map-title-4">
            <a:extLst xmlns:a="http://schemas.openxmlformats.org/drawingml/2006/main">
              <a:ext uri="{FF2B5EF4-FFF2-40B4-BE49-F238E27FC236}">
                <a16:creationId xmlns:a16="http://schemas.microsoft.com/office/drawing/2014/main" id="{7D60EE1D-5390-4E45-B19C-C0837FE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81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个人与后台</a:t>
            </a:r>
          </a:p>
        </p:txBody>
      </p:sp>
      <p:sp>
        <p:nvSpPr>
          <p:cNvPr id="21" name="map-desc-4">
            <a:extLst xmlns:a="http://schemas.openxmlformats.org/drawingml/2006/main">
              <a:ext uri="{FF2B5EF4-FFF2-40B4-BE49-F238E27FC236}">
                <a16:creationId xmlns:a16="http://schemas.microsoft.com/office/drawing/2014/main" id="{A37C4945-A86F-4577-8A3D-B41F5CDF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作品资产、数据统计与平台治理</a:t>
            </a:r>
          </a:p>
        </p:txBody>
      </p:sp>
    </p:spTree>
    <p:extLst>
      <p:ext uri="{BB962C8B-B14F-4D97-AF65-F5344CB8AC3E}">
        <p14:creationId xmlns:p14="http://schemas.microsoft.com/office/powerpoint/2010/main" val="1559419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7A41E04-6088-41F5-BFA6-E3E3F1D8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ABD9D3DC-F985-4CE2-8D85-B07A1F73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PRODUCT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D68A80-59F0-44C7-9A6E-9709AB8D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图像处理工坊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DDAB1B-560C-4214-84F9-E3D0631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C114BA-F18A-481F-B88B-29853CFC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B7656081-5708-4865-86E7-79C73A8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快速完成常见图像调整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10220B33-6FEC-4ECF-A42D-A3548F07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滤镜与参数调节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D1E1DFEA-03B8-43A6-9575-950A2E52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裁剪、旋转与尺寸处理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EA58B90C-7E52-43E3-8FFA-0C6F567F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像素化效果与文字水印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9EC1006-91BA-46D3-9CF9-B7AE94D2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页面展示图｜图像处理工坊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8845C9F3-CB94-40F5-BEB0-D43ED940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1108877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9C3B17-0C6B-4F71-A0E2-C504C67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0CE94713-1DF2-4307-BAC1-89E392E4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PRODUCT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569DCA-690F-4E54-B429-2B2B85F2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创意画布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31105E-8DD3-4160-85A3-A5911A4D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A9CE7-83D9-4C94-937B-1AD2ABCE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EE923D61-2B0F-4770-AFB2-272973E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基于 Fabric.js 的可视化编辑器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B2C46469-0519-4414-9302-7937A2E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图层与对象操作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92231014-B563-4A1B-AAE6-050E034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文本、形状和素材组合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BB1A79A9-93D8-47E8-A5D1-C853107F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核心编辑器约 3081 行代码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814EE092-405D-42DA-8E7E-06526C6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页面展示图｜创意画布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266E8F86-0729-4795-84B8-019130AC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1423596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F3C91A1-C07D-486E-88CD-311318A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89BEFD1A-8877-4A8F-A60C-490664F4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PRODUCT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4331D2-1A8C-405C-A72A-F17B5F3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AI 绘图与画布优化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C5B93B-CC29-4FD3-B82C-13F88D22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6E3FC7-9C0D-4895-B6D3-A297FC7A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D070C032-C6B0-4730-AA1E-517A8D3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把生成式 AI 嵌入创作流程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6DDC374F-1813-4BB2-B3CB-1B59D4F7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通义千问图像生成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CB85C3CE-26FF-47D2-9D2F-7FF159C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视觉语言模型理解画布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89F5AFFC-7119-40CE-84C6-842FF3BE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无 API Key 时本地降级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A5F3218-422A-4F1C-83A4-05ACFCA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页面展示图｜AI 绘图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1260013E-A075-41B1-BC80-D812C1C7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409099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500A065A-694E-4B2B-8FFD-E32A5EB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48BAA06E-21DC-4521-AF79-0098F8BA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COMMUNITY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3B497-B9B1-4951-A556-2A7672CC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社区广场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DB789A8-AB0B-42C7-A740-11A36D79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728637-2C37-47AE-92E8-CFABAB98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FDFAABF8-B85A-4B30-8E30-B5CB6BB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让作品被发现、被搜索、被连接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26AE0512-8EC4-405E-9121-0446DD61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公开作品画廊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36338A0B-D4AF-489A-B005-308D6F9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搜索、标签筛选与无限滚动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A4CC0907-A21C-42D4-B73C-E92A8F10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以视觉内容为主的浏览体验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9D42C47-C93D-40CB-9046-EECA0A10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页面展示图｜社区广场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BC8F9949-D6F5-4425-9287-EF701DD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1852398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D86E4437-4DCA-4D3C-B153-EC9D4200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8EBA3C4A-D3C2-4941-A1B9-F457D0D2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COMMUNITY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A5B0DE-6BDD-4141-AA96-733A2FF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作品详情与创作者主页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43F764-0150-470B-A26F-CCCFC72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92E928-B634-4647-BFDE-78C5A3EC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0D773570-5B81-4B5B-834A-17503562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从单件作品延伸到创作者关系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B6939E70-6913-4D9C-9783-89D2E1B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点赞、收藏与嵌套评论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C3D5FF43-1FE6-40CB-BC5D-9EE287BF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举报与内容治理入口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CBD339BB-3EDD-45CD-AD4F-443F90ED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创作者作品集与关注系统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BAF782D-EC38-40E4-89AF-6AB47ED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页面展示图｜作品详情 / 创作者主页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E0D4A2E3-EE54-4CE7-9320-CA9EE182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1603121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6DADDC6-D5E1-4EFD-9CEC-05297C0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6BD9C5C7-9A82-4C9F-BF80-A8EC1939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MANAGEMENT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E4A34-EEA8-44E8-9569-40AEF1B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个人中心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63D30B-6524-4116-A8F4-5B5E8FCC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DB38FC-578E-4EFA-B193-82B591F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20336A22-0742-4823-BE19-8786E4C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统一管理个人数字资产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E2CE271-7B64-42AD-A1DA-FEB9AC82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我的作品、收藏与点赞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C8777A68-71E4-4298-8EC1-28F5164A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资料维护与账号设置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047BBABA-0CDA-48CD-AAC9-81A53BEC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ECharts 数据统计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1EC52CE-97FE-4C73-AEBF-EA5AC33D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页面展示图｜个人中心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EE9758C7-0D92-44C4-8AB1-1EA88F1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17837365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C00C56A-4FC8-4D56-8303-1A62159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164490BD-5AE0-4E3C-93DB-992A1B9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03 · MANAGEMENT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932A5F-D7F3-4080-82C6-D3DD51F2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0B67308-FD98-468D-972C-1A77F100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275D1B-1310-4E9D-8F4C-37834851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feature-kicker">
            <a:extLst xmlns:a="http://schemas.openxmlformats.org/drawingml/2006/main">
              <a:ext uri="{FF2B5EF4-FFF2-40B4-BE49-F238E27FC236}">
                <a16:creationId xmlns:a16="http://schemas.microsoft.com/office/drawing/2014/main" id="{1446D7DB-C3A2-4DC4-B837-9CA4113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支撑平台日常治理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73DC82BF-752B-4525-B541-1A6ED80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用户与作品管理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8276104D-3208-4092-87B0-35EE54A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相册管理与内容审核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79D6E294-33D7-4CDB-9668-B9512BE0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举报处理与运营数据</a:t>
            </a:r>
          </a:p>
        </p:txBody>
      </p:sp>
      <p:sp>
        <p:nvSpPr>
          <p:cNvPr id="1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8B57D820-912E-4374-A414-941765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67437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页面展示图｜管理后台</a:t>
            </a:r>
          </a:p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建议替换为 16:9 高清截图</a:t>
            </a:r>
          </a:p>
        </p:txBody>
      </p:sp>
      <p:sp>
        <p:nvSpPr>
          <p:cNvPr id="11" name="screenshot-caption">
            <a:extLst xmlns:a="http://schemas.openxmlformats.org/drawingml/2006/main">
              <a:ext uri="{FF2B5EF4-FFF2-40B4-BE49-F238E27FC236}">
                <a16:creationId xmlns:a16="http://schemas.microsoft.com/office/drawing/2014/main" id="{1B57F801-BA34-4B5F-AE6D-8EF8B5C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817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截图放置建议：保留完整浏览器/应用边界，突出当前功能区域</a:t>
            </a:r>
          </a:p>
        </p:txBody>
      </p:sp>
    </p:spTree>
    <p:extLst>
      <p:ext uri="{BB962C8B-B14F-4D97-AF65-F5344CB8AC3E}">
        <p14:creationId xmlns:p14="http://schemas.microsoft.com/office/powerpoint/2010/main" val="52603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ED4885BE-0C4A-4495-99AF-9BB910E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2D28CD8F-8D40-4FD1-BDC8-17F1D2AA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04 · ENGINEERING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6D59BB-996C-4682-AAB4-977ECA7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前端工程设计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A87E86-CC2A-4BF6-9090-A64AEC0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D9938D-6E93-4595-B9B2-D5163482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frontend-lead">
            <a:extLst xmlns:a="http://schemas.openxmlformats.org/drawingml/2006/main">
              <a:ext uri="{FF2B5EF4-FFF2-40B4-BE49-F238E27FC236}">
                <a16:creationId xmlns:a16="http://schemas.microsoft.com/office/drawing/2014/main" id="{6D6697A0-EA7D-43A5-A61A-EEFC79FC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清晰分层，让复杂交互保持可维护</a:t>
            </a:r>
          </a:p>
        </p:txBody>
      </p:sp>
      <p:sp>
        <p:nvSpPr>
          <p:cNvPr id="7" name="fe-label-0">
            <a:extLst xmlns:a="http://schemas.openxmlformats.org/drawingml/2006/main">
              <a:ext uri="{FF2B5EF4-FFF2-40B4-BE49-F238E27FC236}">
                <a16:creationId xmlns:a16="http://schemas.microsoft.com/office/drawing/2014/main" id="{038694FD-5703-41EB-B1A5-5004231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状态管理</a:t>
            </a:r>
          </a:p>
        </p:txBody>
      </p:sp>
      <p:sp>
        <p:nvSpPr>
          <p:cNvPr id="8" name="fe-value-0">
            <a:extLst xmlns:a="http://schemas.openxmlformats.org/drawingml/2006/main">
              <a:ext uri="{FF2B5EF4-FFF2-40B4-BE49-F238E27FC236}">
                <a16:creationId xmlns:a16="http://schemas.microsoft.com/office/drawing/2014/main" id="{8D1334FE-E6E5-4BAB-8603-D746871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Pinia：user / theme / notification / menu</a:t>
            </a:r>
          </a:p>
        </p:txBody>
      </p:sp>
      <p:sp>
        <p:nvSpPr>
          <p:cNvPr id="9" name="fe-rule-0">
            <a:extLst xmlns:a="http://schemas.openxmlformats.org/drawingml/2006/main">
              <a:ext uri="{FF2B5EF4-FFF2-40B4-BE49-F238E27FC236}">
                <a16:creationId xmlns:a16="http://schemas.microsoft.com/office/drawing/2014/main" id="{07610C5E-9B3E-45E3-9973-127926F2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e-label-1">
            <a:extLst xmlns:a="http://schemas.openxmlformats.org/drawingml/2006/main">
              <a:ext uri="{FF2B5EF4-FFF2-40B4-BE49-F238E27FC236}">
                <a16:creationId xmlns:a16="http://schemas.microsoft.com/office/drawing/2014/main" id="{0D2BA995-74B2-4C87-999E-081F367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接口层</a:t>
            </a:r>
          </a:p>
        </p:txBody>
      </p:sp>
      <p:sp>
        <p:nvSpPr>
          <p:cNvPr id="11" name="fe-value-1">
            <a:extLst xmlns:a="http://schemas.openxmlformats.org/drawingml/2006/main">
              <a:ext uri="{FF2B5EF4-FFF2-40B4-BE49-F238E27FC236}">
                <a16:creationId xmlns:a16="http://schemas.microsoft.com/office/drawing/2014/main" id="{7F59A0EF-141C-4FCB-8B8A-4DB5D13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8 个 API 模块覆盖全部业务</a:t>
            </a:r>
          </a:p>
        </p:txBody>
      </p:sp>
      <p:sp>
        <p:nvSpPr>
          <p:cNvPr id="12" name="fe-rule-1">
            <a:extLst xmlns:a="http://schemas.openxmlformats.org/drawingml/2006/main">
              <a:ext uri="{FF2B5EF4-FFF2-40B4-BE49-F238E27FC236}">
                <a16:creationId xmlns:a16="http://schemas.microsoft.com/office/drawing/2014/main" id="{488886BA-8B87-4568-BB72-440F2C8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-label-2">
            <a:extLst xmlns:a="http://schemas.openxmlformats.org/drawingml/2006/main">
              <a:ext uri="{FF2B5EF4-FFF2-40B4-BE49-F238E27FC236}">
                <a16:creationId xmlns:a16="http://schemas.microsoft.com/office/drawing/2014/main" id="{937A67D8-6281-484C-A1FB-DCC41DB8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路由</a:t>
            </a:r>
          </a:p>
        </p:txBody>
      </p:sp>
      <p:sp>
        <p:nvSpPr>
          <p:cNvPr id="14" name="fe-value-2">
            <a:extLst xmlns:a="http://schemas.openxmlformats.org/drawingml/2006/main">
              <a:ext uri="{FF2B5EF4-FFF2-40B4-BE49-F238E27FC236}">
                <a16:creationId xmlns:a16="http://schemas.microsoft.com/office/drawing/2014/main" id="{1D5E54C4-395A-4BEE-B9FD-25871981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Vue Router 4：懒加载 + 守卫</a:t>
            </a:r>
          </a:p>
        </p:txBody>
      </p:sp>
      <p:sp>
        <p:nvSpPr>
          <p:cNvPr id="15" name="fe-rule-2">
            <a:extLst xmlns:a="http://schemas.openxmlformats.org/drawingml/2006/main">
              <a:ext uri="{FF2B5EF4-FFF2-40B4-BE49-F238E27FC236}">
                <a16:creationId xmlns:a16="http://schemas.microsoft.com/office/drawing/2014/main" id="{0A369F62-2D6F-41B0-BCB0-233E60E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-label-3">
            <a:extLst xmlns:a="http://schemas.openxmlformats.org/drawingml/2006/main">
              <a:ext uri="{FF2B5EF4-FFF2-40B4-BE49-F238E27FC236}">
                <a16:creationId xmlns:a16="http://schemas.microsoft.com/office/drawing/2014/main" id="{2C883684-4009-441C-BFD2-EBFB9A33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工具库</a:t>
            </a:r>
          </a:p>
        </p:txBody>
      </p:sp>
      <p:sp>
        <p:nvSpPr>
          <p:cNvPr id="17" name="fe-value-3">
            <a:extLst xmlns:a="http://schemas.openxmlformats.org/drawingml/2006/main">
              <a:ext uri="{FF2B5EF4-FFF2-40B4-BE49-F238E27FC236}">
                <a16:creationId xmlns:a16="http://schemas.microsoft.com/office/drawing/2014/main" id="{CD88D49E-50BA-4E27-B007-D2F62F79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Axios 封装、表单验证与通用能力</a:t>
            </a:r>
          </a:p>
        </p:txBody>
      </p:sp>
      <p:sp>
        <p:nvSpPr>
          <p:cNvPr id="18" name="fe-rule-3">
            <a:extLst xmlns:a="http://schemas.openxmlformats.org/drawingml/2006/main">
              <a:ext uri="{FF2B5EF4-FFF2-40B4-BE49-F238E27FC236}">
                <a16:creationId xmlns:a16="http://schemas.microsoft.com/office/drawing/2014/main" id="{117C0ABD-796A-4C61-B613-BA47FB0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2890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52331DB-84D0-44A8-B8D1-28705F9B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DEF741DB-A36E-4A00-99DD-4D0FC89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04 · ENGINEERING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C8BAB0-AD5F-410C-8D6A-D6E9349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后端 API 与安全设计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36201AC-A546-4FB0-B263-9E158A1A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D0E4A2-66A2-4C4E-ACA1-B9F61E3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backend-lead">
            <a:extLst xmlns:a="http://schemas.openxmlformats.org/drawingml/2006/main">
              <a:ext uri="{FF2B5EF4-FFF2-40B4-BE49-F238E27FC236}">
                <a16:creationId xmlns:a16="http://schemas.microsoft.com/office/drawing/2014/main" id="{749E7542-BC35-4190-B620-D71A7C9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9 个 Servlet 端点 + 6 层 Filter 链</a:t>
            </a:r>
          </a:p>
        </p:txBody>
      </p:sp>
      <p:sp>
        <p:nvSpPr>
          <p:cNvPr id="7" name="api-0">
            <a:extLst xmlns:a="http://schemas.openxmlformats.org/drawingml/2006/main">
              <a:ext uri="{FF2B5EF4-FFF2-40B4-BE49-F238E27FC236}">
                <a16:creationId xmlns:a16="http://schemas.microsoft.com/office/drawing/2014/main" id="{6DB350CF-3013-488A-8916-4D25F65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核心 API</a:t>
            </a:r>
          </a:p>
        </p:txBody>
      </p:sp>
      <p:sp>
        <p:nvSpPr>
          <p:cNvPr id="8" name="api-desc-0">
            <a:extLst xmlns:a="http://schemas.openxmlformats.org/drawingml/2006/main">
              <a:ext uri="{FF2B5EF4-FFF2-40B4-BE49-F238E27FC236}">
                <a16:creationId xmlns:a16="http://schemas.microsoft.com/office/drawing/2014/main" id="{89AFF867-DEC4-4ACB-90EE-29F7E3F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认证 · 图片 · 相册</a:t>
            </a:r>
          </a:p>
        </p:txBody>
      </p:sp>
      <p:sp>
        <p:nvSpPr>
          <p:cNvPr id="9" name="api-1">
            <a:extLst xmlns:a="http://schemas.openxmlformats.org/drawingml/2006/main">
              <a:ext uri="{FF2B5EF4-FFF2-40B4-BE49-F238E27FC236}">
                <a16:creationId xmlns:a16="http://schemas.microsoft.com/office/drawing/2014/main" id="{5C1BCC9A-E116-418D-A3D0-B1CB153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社交 API</a:t>
            </a:r>
          </a:p>
        </p:txBody>
      </p:sp>
      <p:sp>
        <p:nvSpPr>
          <p:cNvPr id="10" name="api-desc-1">
            <a:extLst xmlns:a="http://schemas.openxmlformats.org/drawingml/2006/main">
              <a:ext uri="{FF2B5EF4-FFF2-40B4-BE49-F238E27FC236}">
                <a16:creationId xmlns:a16="http://schemas.microsoft.com/office/drawing/2014/main" id="{F8B258CA-759A-4B94-885B-E3646F20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社区 · 关注 · 教程</a:t>
            </a:r>
          </a:p>
        </p:txBody>
      </p:sp>
      <p:sp>
        <p:nvSpPr>
          <p:cNvPr id="11" name="api-2">
            <a:extLst xmlns:a="http://schemas.openxmlformats.org/drawingml/2006/main">
              <a:ext uri="{FF2B5EF4-FFF2-40B4-BE49-F238E27FC236}">
                <a16:creationId xmlns:a16="http://schemas.microsoft.com/office/drawing/2014/main" id="{2ED30DAC-B966-413B-8E77-11A3403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辅助 API</a:t>
            </a:r>
          </a:p>
        </p:txBody>
      </p:sp>
      <p:sp>
        <p:nvSpPr>
          <p:cNvPr id="12" name="api-desc-2">
            <a:extLst xmlns:a="http://schemas.openxmlformats.org/drawingml/2006/main">
              <a:ext uri="{FF2B5EF4-FFF2-40B4-BE49-F238E27FC236}">
                <a16:creationId xmlns:a16="http://schemas.microsoft.com/office/drawing/2014/main" id="{124327BC-4C69-4265-803D-F88E960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AI · 管理 · 健康检查</a:t>
            </a:r>
          </a:p>
        </p:txBody>
      </p:sp>
      <p:sp>
        <p:nvSpPr>
          <p:cNvPr id="13" name="security-title">
            <a:extLst xmlns:a="http://schemas.openxmlformats.org/drawingml/2006/main">
              <a:ext uri="{FF2B5EF4-FFF2-40B4-BE49-F238E27FC236}">
                <a16:creationId xmlns:a16="http://schemas.microsoft.com/office/drawing/2014/main" id="{683250C0-4E7E-4A2D-B60A-F1EBF97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Filter 链</a:t>
            </a:r>
          </a:p>
        </p:txBody>
      </p:sp>
      <p:sp>
        <p:nvSpPr>
          <p:cNvPr id="14" name="security-list">
            <a:extLst xmlns:a="http://schemas.openxmlformats.org/drawingml/2006/main">
              <a:ext uri="{FF2B5EF4-FFF2-40B4-BE49-F238E27FC236}">
                <a16:creationId xmlns:a16="http://schemas.microsoft.com/office/drawing/2014/main" id="{3B6235B9-EECC-4552-98CD-4AF21E9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UTF-8 编码</a:t>
            </a:r>
          </a:p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CORS 跨域</a:t>
            </a:r>
          </a:p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请求日志</a:t>
            </a:r>
          </a:p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Session 认证</a:t>
            </a:r>
          </a:p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管理员权限</a:t>
            </a:r>
          </a:p>
          <a:p xmlns:a="http://schemas.openxmlformats.org/drawingml/2006/main">
            <a:pPr algn="l">
              <a:def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SPA 回退</a:t>
            </a:r>
          </a:p>
        </p:txBody>
      </p:sp>
      <p:sp>
        <p:nvSpPr>
          <p:cNvPr id="15" name="security-foot">
            <a:extLst xmlns:a="http://schemas.openxmlformats.org/drawingml/2006/main">
              <a:ext uri="{FF2B5EF4-FFF2-40B4-BE49-F238E27FC236}">
                <a16:creationId xmlns:a16="http://schemas.microsoft.com/office/drawing/2014/main" id="{84940CB5-84C9-4742-9B9C-632928F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jBCrypt 密码加密 · 角色权限控制 · 封禁机制 · 文件上传限制 20 MB</a:t>
            </a:r>
          </a:p>
        </p:txBody>
      </p:sp>
    </p:spTree>
    <p:extLst>
      <p:ext uri="{BB962C8B-B14F-4D97-AF65-F5344CB8AC3E}">
        <p14:creationId xmlns:p14="http://schemas.microsoft.com/office/powerpoint/2010/main" val="18798918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00DAD6-1276-4C73-AC08-B0D5E51C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E60AC5B1-05AE-429D-BB88-652A01C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05 · DATA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786E66-A05E-46A8-AC0F-120E23A1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数据库设计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383899-FBAF-45BA-AF8D-1F44317E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5A902A-62B7-4428-96E5-025A6114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db-metric">
            <a:extLst xmlns:a="http://schemas.openxmlformats.org/drawingml/2006/main">
              <a:ext uri="{FF2B5EF4-FFF2-40B4-BE49-F238E27FC236}">
                <a16:creationId xmlns:a16="http://schemas.microsoft.com/office/drawing/2014/main" id="{54439759-AF29-47A3-A3BF-2FAC9E8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11 张核心表</a:t>
            </a:r>
          </a:p>
        </p:txBody>
      </p:sp>
      <p:sp>
        <p:nvSpPr>
          <p:cNvPr id="7" name="db-sub">
            <a:extLst xmlns:a="http://schemas.openxmlformats.org/drawingml/2006/main">
              <a:ext uri="{FF2B5EF4-FFF2-40B4-BE49-F238E27FC236}">
                <a16:creationId xmlns:a16="http://schemas.microsoft.com/office/drawing/2014/main" id="{60031166-E008-4DF8-97D6-1360A09C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MySQL 8 · utf8mb4 · HikariCP</a:t>
            </a:r>
          </a:p>
        </p:txBody>
      </p:sp>
      <p:sp>
        <p:nvSpPr>
          <p:cNvPr id="8" name="db-group-0">
            <a:extLst xmlns:a="http://schemas.openxmlformats.org/drawingml/2006/main">
              <a:ext uri="{FF2B5EF4-FFF2-40B4-BE49-F238E27FC236}">
                <a16:creationId xmlns:a16="http://schemas.microsoft.com/office/drawing/2014/main" id="{2B03C8E4-8EFA-4801-BC5E-F30ACACB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64770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核心实体</a:t>
            </a:r>
          </a:p>
          <a:p xmlns:a="http://schemas.openxmlformats.org/drawingml/2006/main">
            <a:pPr algn="ctr">
              <a:def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用户 · 作品</a:t>
            </a:r>
          </a:p>
        </p:txBody>
      </p:sp>
      <p:sp>
        <p:nvSpPr>
          <p:cNvPr id="9" name="db-group-1">
            <a:extLst xmlns:a="http://schemas.openxmlformats.org/drawingml/2006/main">
              <a:ext uri="{FF2B5EF4-FFF2-40B4-BE49-F238E27FC236}">
                <a16:creationId xmlns:a16="http://schemas.microsoft.com/office/drawing/2014/main" id="{9CD1FD7F-2BAB-40B6-A420-9E0A740D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64770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社交关系</a:t>
            </a:r>
          </a:p>
          <a:p xmlns:a="http://schemas.openxmlformats.org/drawingml/2006/main">
            <a:pPr algn="ctr">
              <a:def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点赞 · 收藏 · 关注 · 通知</a:t>
            </a:r>
          </a:p>
        </p:txBody>
      </p:sp>
      <p:sp>
        <p:nvSpPr>
          <p:cNvPr id="10" name="db-group-2">
            <a:extLst xmlns:a="http://schemas.openxmlformats.org/drawingml/2006/main">
              <a:ext uri="{FF2B5EF4-FFF2-40B4-BE49-F238E27FC236}">
                <a16:creationId xmlns:a16="http://schemas.microsoft.com/office/drawing/2014/main" id="{A344E8AE-14CE-4934-9F5B-6462C49F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64770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C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内容管理</a:t>
            </a:r>
          </a:p>
          <a:p xmlns:a="http://schemas.openxmlformats.org/drawingml/2006/main">
            <a:pPr algn="ctr">
              <a:def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评论 · 举报 · 相册</a:t>
            </a:r>
          </a:p>
        </p:txBody>
      </p:sp>
      <p:sp>
        <p:nvSpPr>
          <p:cNvPr id="11" name="db-note">
            <a:extLst xmlns:a="http://schemas.openxmlformats.org/drawingml/2006/main">
              <a:ext uri="{FF2B5EF4-FFF2-40B4-BE49-F238E27FC236}">
                <a16:creationId xmlns:a16="http://schemas.microsoft.com/office/drawing/2014/main" id="{B93A4ED7-86D6-41FD-925D-916EB4E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数据模型围绕“用户—作品”展开，向外连接互动关系与内容治理。</a:t>
            </a:r>
          </a:p>
        </p:txBody>
      </p:sp>
    </p:spTree>
    <p:extLst>
      <p:ext uri="{BB962C8B-B14F-4D97-AF65-F5344CB8AC3E}">
        <p14:creationId xmlns:p14="http://schemas.microsoft.com/office/powerpoint/2010/main" val="1421067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0720639-529F-4E13-9563-BC300F1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F277B952-8F6C-4712-8CB5-68D4D84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06 · AI &amp; DEPLOY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7E9AA2-09DA-45F1-B120-7F0ACFE1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AI 集成与部署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40ED65-31A4-43C1-8FAC-04AA54F8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30B8B4-14AC-4B88-BBBE-54887BB9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ai-title">
            <a:extLst xmlns:a="http://schemas.openxmlformats.org/drawingml/2006/main">
              <a:ext uri="{FF2B5EF4-FFF2-40B4-BE49-F238E27FC236}">
                <a16:creationId xmlns:a16="http://schemas.microsoft.com/office/drawing/2014/main" id="{CDD6FA34-3DA1-44B3-920D-37CBB21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C54E2B57-2B79-4162-8120-DE374834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—  通义千问 VL 理解图像与画布</a:t>
            </a:r>
          </a:p>
        </p:txBody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8D66D865-572F-45FD-95CF-0A5A0DAE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通义千问图像编辑 / 生成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690F7C8A-6F48-44CB-8232-097A2B9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—  无 API Key 自动回退本地像素画</a:t>
            </a:r>
          </a:p>
        </p:txBody>
      </p:sp>
      <p:sp>
        <p:nvSpPr>
          <p:cNvPr id="10" name="deploy-title">
            <a:extLst xmlns:a="http://schemas.openxmlformats.org/drawingml/2006/main">
              <a:ext uri="{FF2B5EF4-FFF2-40B4-BE49-F238E27FC236}">
                <a16:creationId xmlns:a16="http://schemas.microsoft.com/office/drawing/2014/main" id="{4A5CB00B-D513-4277-99BE-24A241EC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部署链路</a:t>
            </a:r>
          </a:p>
        </p:txBody>
      </p:sp>
      <p:sp>
        <p:nvSpPr>
          <p:cNvPr id="11" name="deploy-body">
            <a:extLst xmlns:a="http://schemas.openxmlformats.org/drawingml/2006/main">
              <a:ext uri="{FF2B5EF4-FFF2-40B4-BE49-F238E27FC236}">
                <a16:creationId xmlns:a16="http://schemas.microsoft.com/office/drawing/2014/main" id="{7A4D3EE2-6C48-43FE-9F8A-1A80207B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09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阿里云 Ubuntu 22.04</a:t>
            </a:r>
          </a:p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Nginx</a:t>
            </a:r>
          </a:p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Tomcat 9 / ROOT.war</a:t>
            </a:r>
          </a:p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12" name="deploy-foot">
            <a:extLst xmlns:a="http://schemas.openxmlformats.org/drawingml/2006/main">
              <a:ext uri="{FF2B5EF4-FFF2-40B4-BE49-F238E27FC236}">
                <a16:creationId xmlns:a16="http://schemas.microsoft.com/office/drawing/2014/main" id="{FE1FE670-9DF5-473A-9A3E-C5214579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增强体验，但不成为系统可用性的单点依赖</a:t>
            </a:r>
          </a:p>
        </p:txBody>
      </p:sp>
    </p:spTree>
    <p:extLst>
      <p:ext uri="{BB962C8B-B14F-4D97-AF65-F5344CB8AC3E}">
        <p14:creationId xmlns:p14="http://schemas.microsoft.com/office/powerpoint/2010/main" val="294635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5BE97723-A387-4334-B1CA-A4F3448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238B0688-B62D-4FB6-813E-0255900D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07 · PROGRESS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28C4C7-6D6B-42A7-8EAB-245E8E18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开发进度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EF2E2C1-615D-4D0B-ACAD-6C66037A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16E5A5-441F-4396-8D73-1CB32ABE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progress-lead">
            <a:extLst xmlns:a="http://schemas.openxmlformats.org/drawingml/2006/main">
              <a:ext uri="{FF2B5EF4-FFF2-40B4-BE49-F238E27FC236}">
                <a16:creationId xmlns:a16="http://schemas.microsoft.com/office/drawing/2014/main" id="{18090543-ACE9-4A35-9909-474A63AF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3 个月完成从初始化到部署上线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8972ACD1-77D1-4EDA-9F74-3546E93D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0">
            <a:extLst xmlns:a="http://schemas.openxmlformats.org/drawingml/2006/main">
              <a:ext uri="{FF2B5EF4-FFF2-40B4-BE49-F238E27FC236}">
                <a16:creationId xmlns:a16="http://schemas.microsoft.com/office/drawing/2014/main" id="{32AFA2EB-B80E-4A6D-96C7-62CD62D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9" name="date-0">
            <a:extLst xmlns:a="http://schemas.openxmlformats.org/drawingml/2006/main">
              <a:ext uri="{FF2B5EF4-FFF2-40B4-BE49-F238E27FC236}">
                <a16:creationId xmlns:a16="http://schemas.microsoft.com/office/drawing/2014/main" id="{9F0120B1-D860-4347-8A8F-1D4FE49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03.13</a:t>
            </a:r>
          </a:p>
        </p:txBody>
      </p:sp>
      <p:sp>
        <p:nvSpPr>
          <p:cNvPr id="10" name="event-0">
            <a:extLst xmlns:a="http://schemas.openxmlformats.org/drawingml/2006/main">
              <a:ext uri="{FF2B5EF4-FFF2-40B4-BE49-F238E27FC236}">
                <a16:creationId xmlns:a16="http://schemas.microsoft.com/office/drawing/2014/main" id="{55760BAF-1DCA-4372-BE91-1AF9FD8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项目初始化</a:t>
            </a:r>
          </a:p>
        </p:txBody>
      </p:sp>
      <p:sp>
        <p:nvSpPr>
          <p:cNvPr id="11" name="dot-1">
            <a:extLst xmlns:a="http://schemas.openxmlformats.org/drawingml/2006/main">
              <a:ext uri="{FF2B5EF4-FFF2-40B4-BE49-F238E27FC236}">
                <a16:creationId xmlns:a16="http://schemas.microsoft.com/office/drawing/2014/main" id="{4E12F340-5B07-4BDC-82D2-E2185DD5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2" name="date-1">
            <a:extLst xmlns:a="http://schemas.openxmlformats.org/drawingml/2006/main">
              <a:ext uri="{FF2B5EF4-FFF2-40B4-BE49-F238E27FC236}">
                <a16:creationId xmlns:a16="http://schemas.microsoft.com/office/drawing/2014/main" id="{C2229310-BB43-4AD9-A9E5-6F0BE729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04—05</a:t>
            </a:r>
          </a:p>
        </p:txBody>
      </p:sp>
      <p:sp>
        <p:nvSpPr>
          <p:cNvPr id="13" name="event-1">
            <a:extLst xmlns:a="http://schemas.openxmlformats.org/drawingml/2006/main">
              <a:ext uri="{FF2B5EF4-FFF2-40B4-BE49-F238E27FC236}">
                <a16:creationId xmlns:a16="http://schemas.microsoft.com/office/drawing/2014/main" id="{5AE38D55-61C3-4975-AFB0-4E3403E4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基础模块搭建</a:t>
            </a:r>
          </a:p>
        </p:txBody>
      </p:sp>
      <p:sp>
        <p:nvSpPr>
          <p:cNvPr id="14" name="dot-2">
            <a:extLst xmlns:a="http://schemas.openxmlformats.org/drawingml/2006/main">
              <a:ext uri="{FF2B5EF4-FFF2-40B4-BE49-F238E27FC236}">
                <a16:creationId xmlns:a16="http://schemas.microsoft.com/office/drawing/2014/main" id="{16DE3589-14A4-478A-B980-01511A49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5" name="date-2">
            <a:extLst xmlns:a="http://schemas.openxmlformats.org/drawingml/2006/main">
              <a:ext uri="{FF2B5EF4-FFF2-40B4-BE49-F238E27FC236}">
                <a16:creationId xmlns:a16="http://schemas.microsoft.com/office/drawing/2014/main" id="{094A05CB-242A-45A7-ADD6-EDB5155D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06.16—06.21</a:t>
            </a:r>
          </a:p>
        </p:txBody>
      </p:sp>
      <p:sp>
        <p:nvSpPr>
          <p:cNvPr id="16" name="event-2">
            <a:extLst xmlns:a="http://schemas.openxmlformats.org/drawingml/2006/main">
              <a:ext uri="{FF2B5EF4-FFF2-40B4-BE49-F238E27FC236}">
                <a16:creationId xmlns:a16="http://schemas.microsoft.com/office/drawing/2014/main" id="{E2260D79-97D0-4A80-B848-4E89DC2D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核心功能密集迭代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3A26BA22-8E9A-40AA-AE19-CC3CA55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18" name="date-3">
            <a:extLst xmlns:a="http://schemas.openxmlformats.org/drawingml/2006/main">
              <a:ext uri="{FF2B5EF4-FFF2-40B4-BE49-F238E27FC236}">
                <a16:creationId xmlns:a16="http://schemas.microsoft.com/office/drawing/2014/main" id="{3BC3EFB9-55CF-406D-A441-718C09F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06.21</a:t>
            </a:r>
          </a:p>
        </p:txBody>
      </p:sp>
      <p:sp>
        <p:nvSpPr>
          <p:cNvPr id="19" name="event-3">
            <a:extLst xmlns:a="http://schemas.openxmlformats.org/drawingml/2006/main">
              <a:ext uri="{FF2B5EF4-FFF2-40B4-BE49-F238E27FC236}">
                <a16:creationId xmlns:a16="http://schemas.microsoft.com/office/drawing/2014/main" id="{667FA55E-8A23-4C14-91C1-F4242B5A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汇报版本</a:t>
            </a:r>
          </a:p>
        </p:txBody>
      </p:sp>
      <p:sp>
        <p:nvSpPr>
          <p:cNvPr id="20" name="commit-count">
            <a:extLst xmlns:a="http://schemas.openxmlformats.org/drawingml/2006/main">
              <a:ext uri="{FF2B5EF4-FFF2-40B4-BE49-F238E27FC236}">
                <a16:creationId xmlns:a16="http://schemas.microsoft.com/office/drawing/2014/main" id="{1E2E8511-A604-4E3A-BD26-12B5BAB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52 次 Git 提交</a:t>
            </a:r>
          </a:p>
        </p:txBody>
      </p:sp>
    </p:spTree>
    <p:extLst>
      <p:ext uri="{BB962C8B-B14F-4D97-AF65-F5344CB8AC3E}">
        <p14:creationId xmlns:p14="http://schemas.microsoft.com/office/powerpoint/2010/main" val="1374695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4802EA66-A9F5-4DD3-A689-94D0E926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rt-label">
            <a:extLst xmlns:a="http://schemas.openxmlformats.org/drawingml/2006/main">
              <a:ext uri="{FF2B5EF4-FFF2-40B4-BE49-F238E27FC236}">
                <a16:creationId xmlns:a16="http://schemas.microsoft.com/office/drawing/2014/main" id="{A590E803-48B7-4D64-930D-4356856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PART 07 · REVIEW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815F88-7258-4308-9FAE-519F5A4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架构亮点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8554E7-145B-4627-87ED-7F5998D9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8191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FB5E3E-1237-4DA8-9123-782CB6C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hi-num-0">
            <a:extLst xmlns:a="http://schemas.openxmlformats.org/drawingml/2006/main">
              <a:ext uri="{FF2B5EF4-FFF2-40B4-BE49-F238E27FC236}">
                <a16:creationId xmlns:a16="http://schemas.microsoft.com/office/drawing/2014/main" id="{1EF6883A-1BFA-4602-AA4D-590AA04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hi-title-0">
            <a:extLst xmlns:a="http://schemas.openxmlformats.org/drawingml/2006/main">
              <a:ext uri="{FF2B5EF4-FFF2-40B4-BE49-F238E27FC236}">
                <a16:creationId xmlns:a16="http://schemas.microsoft.com/office/drawing/2014/main" id="{B46038EE-24BB-4A6A-B7C3-5F3B3272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纯 Servlet 实现</a:t>
            </a:r>
          </a:p>
        </p:txBody>
      </p:sp>
      <p:sp>
        <p:nvSpPr>
          <p:cNvPr id="8" name="hi-desc-0">
            <a:extLst xmlns:a="http://schemas.openxmlformats.org/drawingml/2006/main">
              <a:ext uri="{FF2B5EF4-FFF2-40B4-BE49-F238E27FC236}">
                <a16:creationId xmlns:a16="http://schemas.microsoft.com/office/drawing/2014/main" id="{B4E36FC5-FFE9-4C79-A002-724B77DC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335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不依赖 Spring，展示底层 Web 能力</a:t>
            </a:r>
          </a:p>
        </p:txBody>
      </p:sp>
      <p:sp>
        <p:nvSpPr>
          <p:cNvPr id="9" name="hi-num-1">
            <a:extLst xmlns:a="http://schemas.openxmlformats.org/drawingml/2006/main">
              <a:ext uri="{FF2B5EF4-FFF2-40B4-BE49-F238E27FC236}">
                <a16:creationId xmlns:a16="http://schemas.microsoft.com/office/drawing/2014/main" id="{7660A5F9-B94E-417C-85B7-2FC4029B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hi-title-1">
            <a:extLst xmlns:a="http://schemas.openxmlformats.org/drawingml/2006/main">
              <a:ext uri="{FF2B5EF4-FFF2-40B4-BE49-F238E27FC236}">
                <a16:creationId xmlns:a16="http://schemas.microsoft.com/office/drawing/2014/main" id="{82B568C5-F82E-4D0E-AC22-833B8F59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前后端单包部署</a:t>
            </a:r>
          </a:p>
        </p:txBody>
      </p:sp>
      <p:sp>
        <p:nvSpPr>
          <p:cNvPr id="11" name="hi-desc-1">
            <a:extLst xmlns:a="http://schemas.openxmlformats.org/drawingml/2006/main">
              <a:ext uri="{FF2B5EF4-FFF2-40B4-BE49-F238E27FC236}">
                <a16:creationId xmlns:a16="http://schemas.microsoft.com/office/drawing/2014/main" id="{D1FCAD4E-972C-4776-B013-D0B46A7A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前端打包进 WAR，简化发布流程</a:t>
            </a:r>
          </a:p>
        </p:txBody>
      </p:sp>
      <p:sp>
        <p:nvSpPr>
          <p:cNvPr id="12" name="hi-num-2">
            <a:extLst xmlns:a="http://schemas.openxmlformats.org/drawingml/2006/main">
              <a:ext uri="{FF2B5EF4-FFF2-40B4-BE49-F238E27FC236}">
                <a16:creationId xmlns:a16="http://schemas.microsoft.com/office/drawing/2014/main" id="{C3B9441E-3B0E-4489-A7AF-37C62799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hi-title-2">
            <a:extLst xmlns:a="http://schemas.openxmlformats.org/drawingml/2006/main">
              <a:ext uri="{FF2B5EF4-FFF2-40B4-BE49-F238E27FC236}">
                <a16:creationId xmlns:a16="http://schemas.microsoft.com/office/drawing/2014/main" id="{809FAC6E-FB47-4469-9D5E-E32EF580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多环境配置</a:t>
            </a:r>
          </a:p>
        </p:txBody>
      </p:sp>
      <p:sp>
        <p:nvSpPr>
          <p:cNvPr id="14" name="hi-desc-2">
            <a:extLst xmlns:a="http://schemas.openxmlformats.org/drawingml/2006/main">
              <a:ext uri="{FF2B5EF4-FFF2-40B4-BE49-F238E27FC236}">
                <a16:creationId xmlns:a16="http://schemas.microsoft.com/office/drawing/2014/main" id="{49CE9B33-076D-4182-8128-A68D2AF1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配置分层支持不同部署环境</a:t>
            </a:r>
          </a:p>
        </p:txBody>
      </p:sp>
      <p:sp>
        <p:nvSpPr>
          <p:cNvPr id="15" name="hi-num-3">
            <a:extLst xmlns:a="http://schemas.openxmlformats.org/drawingml/2006/main">
              <a:ext uri="{FF2B5EF4-FFF2-40B4-BE49-F238E27FC236}">
                <a16:creationId xmlns:a16="http://schemas.microsoft.com/office/drawing/2014/main" id="{E1799C08-39D7-430A-B39D-5CB2FDC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hi-title-3">
            <a:extLst xmlns:a="http://schemas.openxmlformats.org/drawingml/2006/main">
              <a:ext uri="{FF2B5EF4-FFF2-40B4-BE49-F238E27FC236}">
                <a16:creationId xmlns:a16="http://schemas.microsoft.com/office/drawing/2014/main" id="{28550A37-308D-4339-B2CA-04C7E5C2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SPA 路由回退</a:t>
            </a:r>
          </a:p>
        </p:txBody>
      </p:sp>
      <p:sp>
        <p:nvSpPr>
          <p:cNvPr id="17" name="hi-desc-3">
            <a:extLst xmlns:a="http://schemas.openxmlformats.org/drawingml/2006/main">
              <a:ext uri="{FF2B5EF4-FFF2-40B4-BE49-F238E27FC236}">
                <a16:creationId xmlns:a16="http://schemas.microsoft.com/office/drawing/2014/main" id="{01D1E818-5B46-4DA7-84AD-D637402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保证 Vue Router 刷新与直达可用</a:t>
            </a:r>
          </a:p>
        </p:txBody>
      </p:sp>
      <p:sp>
        <p:nvSpPr>
          <p:cNvPr id="18" name="hi-num-4">
            <a:extLst xmlns:a="http://schemas.openxmlformats.org/drawingml/2006/main">
              <a:ext uri="{FF2B5EF4-FFF2-40B4-BE49-F238E27FC236}">
                <a16:creationId xmlns:a16="http://schemas.microsoft.com/office/drawing/2014/main" id="{EFF206CB-46FB-487F-9EFA-B253D2C9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hi-title-4">
            <a:extLst xmlns:a="http://schemas.openxmlformats.org/drawingml/2006/main">
              <a:ext uri="{FF2B5EF4-FFF2-40B4-BE49-F238E27FC236}">
                <a16:creationId xmlns:a16="http://schemas.microsoft.com/office/drawing/2014/main" id="{0FA98D8C-FD7C-4735-B9FF-6A3CF772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AI 降级方案</a:t>
            </a:r>
          </a:p>
        </p:txBody>
      </p:sp>
      <p:sp>
        <p:nvSpPr>
          <p:cNvPr id="20" name="hi-desc-4">
            <a:extLst xmlns:a="http://schemas.openxmlformats.org/drawingml/2006/main">
              <a:ext uri="{FF2B5EF4-FFF2-40B4-BE49-F238E27FC236}">
                <a16:creationId xmlns:a16="http://schemas.microsoft.com/office/drawing/2014/main" id="{28FA83B9-D43C-49E8-8E65-7C013EC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外部能力不可用时仍保持核心体验</a:t>
            </a:r>
          </a:p>
        </p:txBody>
      </p:sp>
    </p:spTree>
    <p:extLst>
      <p:ext uri="{BB962C8B-B14F-4D97-AF65-F5344CB8AC3E}">
        <p14:creationId xmlns:p14="http://schemas.microsoft.com/office/powerpoint/2010/main" val="11510932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top">
            <a:extLst xmlns:a="http://schemas.openxmlformats.org/drawingml/2006/main">
              <a:ext uri="{FF2B5EF4-FFF2-40B4-BE49-F238E27FC236}">
                <a16:creationId xmlns:a16="http://schemas.microsoft.com/office/drawing/2014/main" id="{2A1B7006-8702-4050-8A5F-91669BB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63C62E56-49EA-4ACD-85B8-1501791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PIXEL LAB · SUMMARY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9C9C8D2-8B41-41C6-9B17-0F140192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从需求分析到部署上线</a:t>
            </a:r>
          </a:p>
          <a:p xmlns:a="http://schemas.openxmlformats.org/drawingml/2006/main">
            <a:pPr algn="l">
              <a:defRPr sz="39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一次完整的全栈实践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2BD10FB9-742D-49E9-B1BE-A761A3A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stack">
            <a:extLst xmlns:a="http://schemas.openxmlformats.org/drawingml/2006/main">
              <a:ext uri="{FF2B5EF4-FFF2-40B4-BE49-F238E27FC236}">
                <a16:creationId xmlns:a16="http://schemas.microsoft.com/office/drawing/2014/main" id="{7D3E1957-02D5-4104-8DCC-2DD6A66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Vue 3  ·  Java Servlet  ·  Fabric.js  ·  AI API  ·  Cloud Deployment</a:t>
            </a:r>
          </a:p>
        </p:txBody>
      </p:sp>
      <p:sp>
        <p:nvSpPr>
          <p:cNvPr id="6" name="thanks">
            <a:extLst xmlns:a="http://schemas.openxmlformats.org/drawingml/2006/main">
              <a:ext uri="{FF2B5EF4-FFF2-40B4-BE49-F238E27FC236}">
                <a16:creationId xmlns:a16="http://schemas.microsoft.com/office/drawing/2014/main" id="{6C813ABF-BD89-496D-8391-750925BB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9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7" name="close-num">
            <a:extLst xmlns:a="http://schemas.openxmlformats.org/drawingml/2006/main">
              <a:ext uri="{FF2B5EF4-FFF2-40B4-BE49-F238E27FC236}">
                <a16:creationId xmlns:a16="http://schemas.microsoft.com/office/drawing/2014/main" id="{1E74D42F-12C3-49CD-8DAF-736B18D2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34657483"/>
      </p:ext>
    </p:extLst>
  </p:cSld>
</p:sld>
</file>

<file path=ppt/theme/theme1.xml><?xml version="1.0" encoding="utf-8"?>
<a:theme xmlns:a="http://schemas.openxmlformats.org/drawingml/2006/main" name="ChatGPT">
  <a:themeElements>
    <a:clrScheme name="Pixel Lab">
      <a:dk1>
        <a:srgbClr val="020617"/>
      </a:dk1>
      <a:lt1>
        <a:srgbClr val="FFFFFF"/>
      </a:lt1>
      <a:dk2>
        <a:srgbClr val="1E293B"/>
      </a:dk2>
      <a:lt2>
        <a:srgbClr val="CBD5E1"/>
      </a:lt2>
      <a:accent1>
        <a:srgbClr val="3B82F6"/>
      </a:accent1>
      <a:accent2>
        <a:srgbClr val="22D3EE"/>
      </a:accent2>
      <a:accent3>
        <a:srgbClr val="A78BFA"/>
      </a:accent3>
      <a:accent4>
        <a:srgbClr val="F59E0B"/>
      </a:accent4>
      <a:accent5>
        <a:srgbClr val="10B981"/>
      </a:accent5>
      <a:accent6>
        <a:srgbClr val="F43F5E"/>
      </a:accent6>
      <a:hlink>
        <a:srgbClr val="60A5FA"/>
      </a:hlink>
      <a:folHlink>
        <a:srgbClr val="A78BF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ixel Lab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2026-06-21T09:17:26.2340000Z</dcterms:created>
  <dcterms:modified xsi:type="dcterms:W3CDTF">2026-06-21T09:17:26.2340000Z</dcterms:modified>
</coreProperties>
</file>